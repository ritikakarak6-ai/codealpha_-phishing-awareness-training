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EB Garamond"/>
      <p:regular r:id="rId15"/>
      <p:bold r:id="rId16"/>
      <p:italic r:id="rId17"/>
      <p:boldItalic r:id="rId18"/>
    </p:embeddedFont>
    <p:embeddedFont>
      <p:font typeface="Roboto Mon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bold.fntdata"/><Relationship Id="rId11" Type="http://schemas.openxmlformats.org/officeDocument/2006/relationships/slide" Target="slides/slide6.xml"/><Relationship Id="rId22" Type="http://schemas.openxmlformats.org/officeDocument/2006/relationships/font" Target="fonts/RobotoMono-boldItalic.fntdata"/><Relationship Id="rId10" Type="http://schemas.openxmlformats.org/officeDocument/2006/relationships/slide" Target="slides/slide5.xml"/><Relationship Id="rId21" Type="http://schemas.openxmlformats.org/officeDocument/2006/relationships/font" Target="fonts/RobotoMon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EBGaramond-regular.fntdata"/><Relationship Id="rId14" Type="http://schemas.openxmlformats.org/officeDocument/2006/relationships/slide" Target="slides/slide9.xml"/><Relationship Id="rId17" Type="http://schemas.openxmlformats.org/officeDocument/2006/relationships/font" Target="fonts/EBGaramond-italic.fntdata"/><Relationship Id="rId16" Type="http://schemas.openxmlformats.org/officeDocument/2006/relationships/font" Target="fonts/EBGaramond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Mono-regular.fntdata"/><Relationship Id="rId6" Type="http://schemas.openxmlformats.org/officeDocument/2006/relationships/slide" Target="slides/slide1.xml"/><Relationship Id="rId18" Type="http://schemas.openxmlformats.org/officeDocument/2006/relationships/font" Target="fonts/EBGaramon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ef0152a6d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ef0152a6d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f0152a6d1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ef0152a6d1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ef0152a6d1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ef0152a6d1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f0152a6d1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f0152a6d1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f0152a6d1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ef0152a6d1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f0152a6d1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ef0152a6d1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f0152a6d1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f0152a6d1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f0152a6d1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ef0152a6d1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269775"/>
            <a:ext cx="9202500" cy="207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4110">
                <a:solidFill>
                  <a:srgbClr val="6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Phishing Awareness Training: Spot the Bait, Defeat the Scam </a:t>
            </a:r>
            <a:endParaRPr sz="3910">
              <a:solidFill>
                <a:srgbClr val="6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452625" y="26418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8">
                <a:latin typeface="EB Garamond"/>
                <a:ea typeface="EB Garamond"/>
                <a:cs typeface="EB Garamond"/>
                <a:sym typeface="EB Garamond"/>
              </a:rPr>
              <a:t>Empowering Users Against Social Engineering Threats 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827500" y="3643900"/>
            <a:ext cx="79005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Georgia"/>
                <a:ea typeface="Georgia"/>
                <a:cs typeface="Georgia"/>
                <a:sym typeface="Georgia"/>
              </a:rPr>
              <a:t>Presented by:</a:t>
            </a:r>
            <a:r>
              <a:rPr lang="en" sz="2100"/>
              <a:t> Ritika Karak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Georgia"/>
                <a:ea typeface="Georgia"/>
                <a:cs typeface="Georgia"/>
                <a:sym typeface="Georgia"/>
              </a:rPr>
              <a:t>Date:</a:t>
            </a:r>
            <a:r>
              <a:rPr lang="en" sz="2100"/>
              <a:t> June 2026</a:t>
            </a:r>
            <a:endParaRPr sz="2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0124D"/>
                </a:solidFill>
                <a:latin typeface="Georgia"/>
                <a:ea typeface="Georgia"/>
                <a:cs typeface="Georgia"/>
                <a:sym typeface="Georgia"/>
              </a:rPr>
              <a:t>Introduction to Phishing &amp; Social Engineering </a:t>
            </a:r>
            <a:endParaRPr b="1">
              <a:solidFill>
                <a:srgbClr val="20124D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n" sz="1900">
                <a:solidFill>
                  <a:schemeClr val="dk1"/>
                </a:solidFill>
              </a:rPr>
              <a:t>Phishing Definition:</a:t>
            </a:r>
            <a:r>
              <a:rPr lang="en" sz="1900">
                <a:solidFill>
                  <a:schemeClr val="dk1"/>
                </a:solidFill>
              </a:rPr>
              <a:t> A type of cyberattack where attackers masquerade as trusted entities (banks, tech support, government agencies) to dupe victims into revealing sensitive data.</a:t>
            </a:r>
            <a:endParaRPr sz="19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n" sz="1900">
                <a:solidFill>
                  <a:schemeClr val="dk1"/>
                </a:solidFill>
              </a:rPr>
              <a:t>The Target:</a:t>
            </a:r>
            <a:r>
              <a:rPr lang="en" sz="1900">
                <a:solidFill>
                  <a:schemeClr val="dk1"/>
                </a:solidFill>
              </a:rPr>
              <a:t> Stealing login credentials, credit card details, OTPs, or installing malware on the victim's device.</a:t>
            </a:r>
            <a:endParaRPr sz="19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n" sz="1900">
                <a:solidFill>
                  <a:schemeClr val="dk1"/>
                </a:solidFill>
              </a:rPr>
              <a:t>What is Social Engineering?</a:t>
            </a:r>
            <a:r>
              <a:rPr lang="en" sz="1900">
                <a:solidFill>
                  <a:schemeClr val="dk1"/>
                </a:solidFill>
              </a:rPr>
              <a:t> The psychological manipulation of people into performing actions or divulging confidential information. Phishing is the most common form of social engineering.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0124D"/>
                </a:solidFill>
                <a:latin typeface="Georgia"/>
                <a:ea typeface="Georgia"/>
                <a:cs typeface="Georgia"/>
                <a:sym typeface="Georgia"/>
              </a:rPr>
              <a:t>Different Forms of Phishing Attacks </a:t>
            </a:r>
            <a:endParaRPr b="1">
              <a:solidFill>
                <a:srgbClr val="20124D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4020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900">
                <a:solidFill>
                  <a:schemeClr val="dk1"/>
                </a:solidFill>
              </a:rPr>
              <a:t>Email Phishing:</a:t>
            </a:r>
            <a:r>
              <a:rPr lang="en" sz="1900">
                <a:solidFill>
                  <a:schemeClr val="dk1"/>
                </a:solidFill>
              </a:rPr>
              <a:t> Mass emails sent to thousands of users simultaneously with malicious links or attachments.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7895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-34020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900">
                <a:solidFill>
                  <a:schemeClr val="dk1"/>
                </a:solidFill>
              </a:rPr>
              <a:t>Spear Phishing:</a:t>
            </a:r>
            <a:r>
              <a:rPr lang="en" sz="1900">
                <a:solidFill>
                  <a:schemeClr val="dk1"/>
                </a:solidFill>
              </a:rPr>
              <a:t> Highly targeted attacks customized for a specific individual or organization, often using personal details.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</a:endParaRPr>
          </a:p>
          <a:p>
            <a:pPr indent="-34020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900">
                <a:solidFill>
                  <a:schemeClr val="dk1"/>
                </a:solidFill>
              </a:rPr>
              <a:t>Whaling:</a:t>
            </a:r>
            <a:r>
              <a:rPr lang="en" sz="1900">
                <a:solidFill>
                  <a:schemeClr val="dk1"/>
                </a:solidFill>
              </a:rPr>
              <a:t> Phishing attacks specifically aimed at high-profile targets like CEOs, CFOs, or senior executives.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</a:endParaRPr>
          </a:p>
          <a:p>
            <a:pPr indent="-34020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900">
                <a:solidFill>
                  <a:schemeClr val="dk1"/>
                </a:solidFill>
              </a:rPr>
              <a:t>Smishing &amp; Vishing:</a:t>
            </a:r>
            <a:r>
              <a:rPr lang="en" sz="1900">
                <a:solidFill>
                  <a:schemeClr val="dk1"/>
                </a:solidFill>
              </a:rPr>
              <a:t> Phishing conducted via SMS text messages (Smishing) or voice calls (Vishing).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0124D"/>
                </a:solidFill>
                <a:latin typeface="Georgia"/>
                <a:ea typeface="Georgia"/>
                <a:cs typeface="Georgia"/>
                <a:sym typeface="Georgia"/>
              </a:rPr>
              <a:t>Red Flags: How to Spot a Phishing Email </a:t>
            </a:r>
            <a:endParaRPr b="1">
              <a:solidFill>
                <a:srgbClr val="20124D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Urgent or Threatening Language:</a:t>
            </a:r>
            <a:r>
              <a:rPr lang="en">
                <a:solidFill>
                  <a:schemeClr val="dk1"/>
                </a:solidFill>
              </a:rPr>
              <a:t> Messages creating a false sense of urgency (e.g., "Your account will be suspended in 24 hours!").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Suspicious Sender Address:</a:t>
            </a:r>
            <a:r>
              <a:rPr lang="en">
                <a:solidFill>
                  <a:schemeClr val="dk1"/>
                </a:solidFill>
              </a:rPr>
              <a:t> Email spoofing where the domain looks slightly altered (e.g., </a:t>
            </a:r>
            <a:r>
              <a:rPr lang="en">
                <a:solidFill>
                  <a:srgbClr val="188038"/>
                </a:solidFill>
              </a:rPr>
              <a:t>support@paypa1.com</a:t>
            </a:r>
            <a:r>
              <a:rPr lang="en">
                <a:solidFill>
                  <a:schemeClr val="dk1"/>
                </a:solidFill>
              </a:rPr>
              <a:t> instead of </a:t>
            </a:r>
            <a:r>
              <a:rPr lang="en">
                <a:solidFill>
                  <a:srgbClr val="188038"/>
                </a:solidFill>
              </a:rPr>
              <a:t>paypal.com</a:t>
            </a:r>
            <a:r>
              <a:rPr lang="en">
                <a:solidFill>
                  <a:schemeClr val="dk1"/>
                </a:solidFill>
              </a:rPr>
              <a:t>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Generic Greetings:</a:t>
            </a:r>
            <a:r>
              <a:rPr lang="en">
                <a:solidFill>
                  <a:schemeClr val="dk1"/>
                </a:solidFill>
              </a:rPr>
              <a:t> Using "Dear Customer" or "Dear User" instead of your actual name.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Suspicious Links &amp; Attachments:</a:t>
            </a:r>
            <a:r>
              <a:rPr lang="en">
                <a:solidFill>
                  <a:schemeClr val="dk1"/>
                </a:solidFill>
              </a:rPr>
              <a:t> Mismatched hyperlinks or unexpected file attachments like </a:t>
            </a:r>
            <a:r>
              <a:rPr lang="en">
                <a:solidFill>
                  <a:srgbClr val="188038"/>
                </a:solidFill>
              </a:rPr>
              <a:t>.exe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</a:rPr>
              <a:t>.scr</a:t>
            </a:r>
            <a:r>
              <a:rPr lang="en">
                <a:solidFill>
                  <a:schemeClr val="dk1"/>
                </a:solidFill>
              </a:rPr>
              <a:t>, or password-protected </a:t>
            </a:r>
            <a:r>
              <a:rPr lang="en">
                <a:solidFill>
                  <a:srgbClr val="188038"/>
                </a:solidFill>
              </a:rPr>
              <a:t>.zip</a:t>
            </a:r>
            <a:r>
              <a:rPr lang="en">
                <a:solidFill>
                  <a:schemeClr val="dk1"/>
                </a:solidFill>
              </a:rPr>
              <a:t> files.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0124D"/>
                </a:solidFill>
                <a:latin typeface="Georgia"/>
                <a:ea typeface="Georgia"/>
                <a:cs typeface="Georgia"/>
                <a:sym typeface="Georgia"/>
              </a:rPr>
              <a:t>Identifying Fraudulent Websites </a:t>
            </a:r>
            <a:endParaRPr b="1">
              <a:solidFill>
                <a:srgbClr val="20124D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>
                <a:solidFill>
                  <a:schemeClr val="dk1"/>
                </a:solidFill>
              </a:rPr>
              <a:t>Look Closely at the Domain Name:</a:t>
            </a:r>
            <a:r>
              <a:rPr lang="en">
                <a:solidFill>
                  <a:schemeClr val="dk1"/>
                </a:solidFill>
              </a:rPr>
              <a:t> Attackers use typosquatting to mimic legitimate brands (e.g.,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wellsfarg0.com</a:t>
            </a:r>
            <a:r>
              <a:rPr lang="en">
                <a:solidFill>
                  <a:schemeClr val="dk1"/>
                </a:solidFill>
              </a:rPr>
              <a:t> or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faceb00k.com</a:t>
            </a:r>
            <a:r>
              <a:rPr lang="en">
                <a:solidFill>
                  <a:schemeClr val="dk1"/>
                </a:solidFill>
              </a:rPr>
              <a:t>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-33432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n">
                <a:solidFill>
                  <a:schemeClr val="dk1"/>
                </a:solidFill>
              </a:rPr>
              <a:t>Lack of Proper HTTPS/SSL Certificate:</a:t>
            </a:r>
            <a:r>
              <a:rPr lang="en">
                <a:solidFill>
                  <a:schemeClr val="dk1"/>
                </a:solidFill>
              </a:rPr>
              <a:t> Check if the site uses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http://</a:t>
            </a:r>
            <a:r>
              <a:rPr lang="en">
                <a:solidFill>
                  <a:schemeClr val="dk1"/>
                </a:solidFill>
              </a:rPr>
              <a:t> instead of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https://</a:t>
            </a:r>
            <a:r>
              <a:rPr lang="en">
                <a:solidFill>
                  <a:schemeClr val="dk1"/>
                </a:solidFill>
              </a:rPr>
              <a:t>. (Note: Many modern phishing sites now use SSL, so look at the domain name first!).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34328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>
                <a:solidFill>
                  <a:schemeClr val="dk1"/>
                </a:solidFill>
              </a:rPr>
              <a:t>Poor Grammar and Broken Layout:</a:t>
            </a:r>
            <a:r>
              <a:rPr lang="en">
                <a:solidFill>
                  <a:schemeClr val="dk1"/>
                </a:solidFill>
              </a:rPr>
              <a:t> Legitimate corporate websites rarely have broken layouts, blurry low-res logos, or obvious spelling mistakes.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0124D"/>
                </a:solidFill>
                <a:latin typeface="Georgia"/>
                <a:ea typeface="Georgia"/>
                <a:cs typeface="Georgia"/>
                <a:sym typeface="Georgia"/>
              </a:rPr>
              <a:t>Phishing in the Real World: Case Studies </a:t>
            </a:r>
            <a:endParaRPr b="1">
              <a:solidFill>
                <a:srgbClr val="20124D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Scenario A: The Urgent Account Verification Scam</a:t>
            </a:r>
            <a:endParaRPr b="1">
              <a:solidFill>
                <a:schemeClr val="dk1"/>
              </a:solidFill>
            </a:endParaRPr>
          </a:p>
          <a:p>
            <a:pPr indent="-334328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An email arrives claiming to be from "Google Security Updates" stating malicious login attempts were blocked. It provides a "Secure Account" button that redirects to a credential-harvesting fake login page.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Scenario B: The Fake Invoice / HR Policy Scam</a:t>
            </a:r>
            <a:endParaRPr b="1">
              <a:solidFill>
                <a:schemeClr val="dk1"/>
              </a:solidFill>
            </a:endParaRPr>
          </a:p>
          <a:p>
            <a:pPr indent="-334328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An email disguised as an HR notification or corporate invoice attachment (e.g.,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Q3_Bonus_Details.pdf.exe</a:t>
            </a:r>
            <a:r>
              <a:rPr lang="en">
                <a:solidFill>
                  <a:schemeClr val="dk1"/>
                </a:solidFill>
              </a:rPr>
              <a:t>). Opening the attachment installs ransomware or spyware on the corporate network.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0124D"/>
                </a:solidFill>
                <a:latin typeface="Georgia"/>
                <a:ea typeface="Georgia"/>
                <a:cs typeface="Georgia"/>
                <a:sym typeface="Georgia"/>
              </a:rPr>
              <a:t>Best Practices to Stay Safe </a:t>
            </a:r>
            <a:endParaRPr b="1">
              <a:solidFill>
                <a:srgbClr val="20124D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926800" cy="37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Think Before You Click:</a:t>
            </a:r>
            <a:r>
              <a:rPr lang="en">
                <a:solidFill>
                  <a:schemeClr val="dk1"/>
                </a:solidFill>
              </a:rPr>
              <a:t> Hover over links before clicking to inspect the actual destination URL.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Enable Multi-Factor Authentication (MFA):</a:t>
            </a:r>
            <a:r>
              <a:rPr lang="en">
                <a:solidFill>
                  <a:schemeClr val="dk1"/>
                </a:solidFill>
              </a:rPr>
              <a:t> Always use 2FA/MFA; even if attackers steal your password, they cannot bypass the second layer.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Never Share Sensitive Data:</a:t>
            </a:r>
            <a:r>
              <a:rPr lang="en">
                <a:solidFill>
                  <a:schemeClr val="dk1"/>
                </a:solidFill>
              </a:rPr>
              <a:t> Legitimate companies or banks will never ask for passwords, pins, or full credit card details via email or text.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Keep Software Updated:</a:t>
            </a:r>
            <a:r>
              <a:rPr lang="en">
                <a:solidFill>
                  <a:schemeClr val="dk1"/>
                </a:solidFill>
              </a:rPr>
              <a:t> Regularly update web browsers, operating systems, and security tools to patch known system vulnerabilities.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0124D"/>
                </a:solidFill>
                <a:latin typeface="Georgia"/>
                <a:ea typeface="Georgia"/>
                <a:cs typeface="Georgia"/>
                <a:sym typeface="Georgia"/>
              </a:rPr>
              <a:t>Interactive Quiz: Test Your Awareness! </a:t>
            </a:r>
            <a:endParaRPr b="1">
              <a:solidFill>
                <a:srgbClr val="20124D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706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Question 1:</a:t>
            </a:r>
            <a:r>
              <a:rPr lang="en" sz="1700">
                <a:solidFill>
                  <a:schemeClr val="dk1"/>
                </a:solidFill>
              </a:rPr>
              <a:t> You receive an urgent email from "Netflix Support" saying your billing failed. The sender's email address is </a:t>
            </a:r>
            <a:r>
              <a:rPr lang="en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netflix-billing-update@gmail.com</a:t>
            </a:r>
            <a:r>
              <a:rPr lang="en" sz="1700">
                <a:solidFill>
                  <a:schemeClr val="dk1"/>
                </a:solidFill>
              </a:rPr>
              <a:t>. Is this a legitimate email?</a:t>
            </a:r>
            <a:endParaRPr sz="1700">
              <a:solidFill>
                <a:schemeClr val="dk1"/>
              </a:solidFill>
            </a:endParaRPr>
          </a:p>
          <a:p>
            <a:pPr indent="-328454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i="1" lang="en" sz="1700" u="sng">
                <a:solidFill>
                  <a:schemeClr val="dk1"/>
                </a:solidFill>
              </a:rPr>
              <a:t>Answer:</a:t>
            </a:r>
            <a:r>
              <a:rPr lang="en" sz="1700">
                <a:solidFill>
                  <a:schemeClr val="dk1"/>
                </a:solidFill>
              </a:rPr>
              <a:t> </a:t>
            </a:r>
            <a:r>
              <a:rPr b="1" lang="en" sz="1700">
                <a:solidFill>
                  <a:schemeClr val="dk1"/>
                </a:solidFill>
              </a:rPr>
              <a:t>NO.</a:t>
            </a:r>
            <a:r>
              <a:rPr lang="en" sz="1700">
                <a:solidFill>
                  <a:schemeClr val="dk1"/>
                </a:solidFill>
              </a:rPr>
              <a:t> Legitimate organizations send emails from their corporate domain (e.g., </a:t>
            </a:r>
            <a:r>
              <a:rPr lang="en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@netflix.com</a:t>
            </a:r>
            <a:r>
              <a:rPr lang="en" sz="1700">
                <a:solidFill>
                  <a:schemeClr val="dk1"/>
                </a:solidFill>
              </a:rPr>
              <a:t>), never from free public domains like </a:t>
            </a:r>
            <a:r>
              <a:rPr lang="en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@gmail.com</a:t>
            </a:r>
            <a:r>
              <a:rPr lang="en" sz="1700">
                <a:solidFill>
                  <a:schemeClr val="dk1"/>
                </a:solidFill>
              </a:rPr>
              <a:t>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4706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Question 2:</a:t>
            </a:r>
            <a:r>
              <a:rPr lang="en" sz="1700">
                <a:solidFill>
                  <a:schemeClr val="dk1"/>
                </a:solidFill>
              </a:rPr>
              <a:t> A login page looks identical to Facebook, but the address bar displays </a:t>
            </a:r>
            <a:r>
              <a:rPr lang="en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[http://www.verification-facebook.com](http://www.verification-facebook.com)</a:t>
            </a:r>
            <a:r>
              <a:rPr lang="en" sz="1700">
                <a:solidFill>
                  <a:schemeClr val="dk1"/>
                </a:solidFill>
              </a:rPr>
              <a:t>. Is it safe to enter your credentials?</a:t>
            </a:r>
            <a:endParaRPr sz="1700">
              <a:solidFill>
                <a:schemeClr val="dk1"/>
              </a:solidFill>
            </a:endParaRPr>
          </a:p>
          <a:p>
            <a:pPr indent="-328454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i="1" lang="en" sz="1700" u="sng">
                <a:solidFill>
                  <a:schemeClr val="dk1"/>
                </a:solidFill>
              </a:rPr>
              <a:t>Answer</a:t>
            </a:r>
            <a:r>
              <a:rPr i="1" lang="en" sz="1700">
                <a:solidFill>
                  <a:schemeClr val="dk1"/>
                </a:solidFill>
              </a:rPr>
              <a:t>:</a:t>
            </a:r>
            <a:r>
              <a:rPr lang="en" sz="1700">
                <a:solidFill>
                  <a:schemeClr val="dk1"/>
                </a:solidFill>
              </a:rPr>
              <a:t> </a:t>
            </a:r>
            <a:r>
              <a:rPr b="1" lang="en" sz="1700">
                <a:solidFill>
                  <a:schemeClr val="dk1"/>
                </a:solidFill>
              </a:rPr>
              <a:t>NO.</a:t>
            </a:r>
            <a:r>
              <a:rPr lang="en" sz="1700">
                <a:solidFill>
                  <a:schemeClr val="dk1"/>
                </a:solidFill>
              </a:rPr>
              <a:t> This is a sub-domain scam. The main domain is </a:t>
            </a:r>
            <a:r>
              <a:rPr lang="en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verification-facebook.com</a:t>
            </a:r>
            <a:r>
              <a:rPr lang="en" sz="1700">
                <a:solidFill>
                  <a:schemeClr val="dk1"/>
                </a:solidFill>
              </a:rPr>
              <a:t>, which is a fake domain registered by an attacker.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0124D"/>
                </a:solidFill>
                <a:latin typeface="Georgia"/>
                <a:ea typeface="Georgia"/>
                <a:cs typeface="Georgia"/>
                <a:sym typeface="Georgia"/>
              </a:rPr>
              <a:t>Conclusion &amp; Key Takeaways </a:t>
            </a:r>
            <a:endParaRPr b="1">
              <a:solidFill>
                <a:srgbClr val="20124D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311700" y="1152475"/>
            <a:ext cx="7922400" cy="29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000">
                <a:solidFill>
                  <a:schemeClr val="dk1"/>
                </a:solidFill>
              </a:rPr>
              <a:t>Human awareness is the most critical line of defense in cybersecurity.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4607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000">
                <a:solidFill>
                  <a:schemeClr val="dk1"/>
                </a:solidFill>
              </a:rPr>
              <a:t>Technical controls can fail, but a vigilant user stops the attack.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4607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000">
                <a:solidFill>
                  <a:schemeClr val="dk1"/>
                </a:solidFill>
              </a:rPr>
              <a:t>Remember the golden rule: </a:t>
            </a:r>
            <a:r>
              <a:rPr b="1" lang="en" sz="2000">
                <a:solidFill>
                  <a:schemeClr val="dk1"/>
                </a:solidFill>
              </a:rPr>
              <a:t>Verify before you trust.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1"/>
          <p:cNvSpPr txBox="1"/>
          <p:nvPr/>
        </p:nvSpPr>
        <p:spPr>
          <a:xfrm>
            <a:off x="6547100" y="4453125"/>
            <a:ext cx="4416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100">
                <a:solidFill>
                  <a:schemeClr val="dk1"/>
                </a:solidFill>
              </a:rPr>
              <a:t>Thank You</a:t>
            </a:r>
            <a:endParaRPr b="1" i="1"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